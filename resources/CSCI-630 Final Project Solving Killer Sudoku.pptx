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034518-7C6C-4611-BADA-17F6D5ED6A66}">
  <a:tblStyle styleId="{CA034518-7C6C-4611-BADA-17F6D5ED6A6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Carter</a:t>
            </a:r>
            <a:endParaRPr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Title (Title, group names, course, university, date) - done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Carter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Introduction (Problem, background, hypotheses, visuals) - Done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Carter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Discuss problem (visuals!)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We thought that doing more processing to remove extra nodes would be faster than just brute force with backtracking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Methods (Dataset, preprocessing, design, tools, models, architecture, and evaluation method)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Backtracking Arcs Setup + Domains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Jean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What dataset we use as well please (and what it provides? (solution))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Backtracking Modified with Forward Tracking (AC3/MRV/LCS)  - needs gifs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Aidan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ML Training/Running - Done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Carter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Train with solutions (random reveal)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Demo/Results (Key findings with clean, labeled figures and metrics)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Aidan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Average time, max/min, nodes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Chart (speed/</a:t>
            </a:r>
            <a:r>
              <a:rPr lang="en-US"/>
              <a:t>difficulty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Results/Conclusions bleed together</a:t>
            </a:r>
            <a:endParaRPr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Conclusions (Interpretations, comparison, limitations, future works)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Problem is simple enough that adding complexity tends to diminish </a:t>
            </a:r>
            <a:r>
              <a:rPr lang="en-US"/>
              <a:t>efficiency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Use heuristics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Jean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Future 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Everyone (Aidan/Carter)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Cool other </a:t>
            </a:r>
            <a:r>
              <a:rPr lang="en-US"/>
              <a:t>Sudoku</a:t>
            </a:r>
            <a:r>
              <a:rPr lang="en-US"/>
              <a:t> problems that are even more complicated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Other ML strats we could try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Acknowledgments (Collaborators, references, etc.)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/>
              <a:t>Jean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Dataset</a:t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6d1ce62b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6d1ce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Carter</a:t>
            </a:r>
            <a:endParaRPr/>
          </a:p>
        </p:txBody>
      </p:sp>
      <p:sp>
        <p:nvSpPr>
          <p:cNvPr id="59" name="Google Shape;59;g3d76d1ce62b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76d1ce62b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76d1ce62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Carter</a:t>
            </a:r>
            <a:endParaRPr/>
          </a:p>
        </p:txBody>
      </p:sp>
      <p:sp>
        <p:nvSpPr>
          <p:cNvPr id="67" name="Google Shape;67;g3d76d1ce62b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76d1ce62b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76d1ce62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Carter</a:t>
            </a:r>
            <a:endParaRPr/>
          </a:p>
        </p:txBody>
      </p:sp>
      <p:sp>
        <p:nvSpPr>
          <p:cNvPr id="75" name="Google Shape;75;g3d76d1ce62b_0_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edec500b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edec500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JEAN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Object references between cells and cages enable efficient constraint propagation and domain reduction through arc consistency algorithms.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Difficulty rises in correlation with the number and complexity of cages</a:t>
            </a:r>
            <a:endParaRPr/>
          </a:p>
        </p:txBody>
      </p:sp>
      <p:sp>
        <p:nvSpPr>
          <p:cNvPr id="82" name="Google Shape;82;g3dedec500be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JEAN</a:t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76d1ce62b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76d1ce62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Carter</a:t>
            </a:r>
            <a:br>
              <a:rPr lang="en-US"/>
            </a:br>
            <a:r>
              <a:rPr lang="en-US"/>
              <a:t>Mention why we didn’t do straight problem -&gt; solution one step</a:t>
            </a:r>
            <a:endParaRPr/>
          </a:p>
        </p:txBody>
      </p:sp>
      <p:sp>
        <p:nvSpPr>
          <p:cNvPr id="99" name="Google Shape;99;g3d76d1ce62b_0_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6d1ce62b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76d1ce62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Carter</a:t>
            </a:r>
            <a:endParaRPr/>
          </a:p>
        </p:txBody>
      </p:sp>
      <p:sp>
        <p:nvSpPr>
          <p:cNvPr id="106" name="Google Shape;106;g3d76d1ce62b_0_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8128197f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8128197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Aidan</a:t>
            </a:r>
            <a:endParaRPr/>
          </a:p>
        </p:txBody>
      </p:sp>
      <p:sp>
        <p:nvSpPr>
          <p:cNvPr id="113" name="Google Shape;113;g3d8128197ff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8128197ff_0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8128197f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Aidan</a:t>
            </a:r>
            <a:endParaRPr/>
          </a:p>
        </p:txBody>
      </p:sp>
      <p:sp>
        <p:nvSpPr>
          <p:cNvPr id="123" name="Google Shape;123;g3d8128197ff_0_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8128197ff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8128197f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Aidan</a:t>
            </a:r>
            <a:endParaRPr/>
          </a:p>
        </p:txBody>
      </p:sp>
      <p:sp>
        <p:nvSpPr>
          <p:cNvPr id="130" name="Google Shape;130;g3d8128197ff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5bb07cd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75bb07c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Aidan: </a:t>
            </a:r>
            <a:endParaRPr/>
          </a:p>
        </p:txBody>
      </p:sp>
      <p:sp>
        <p:nvSpPr>
          <p:cNvPr id="138" name="Google Shape;138;g3d75bb07cd2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128197ff_0_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8128197f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JEAN</a:t>
            </a:r>
            <a:br>
              <a:rPr lang="en-US"/>
            </a:br>
            <a:r>
              <a:rPr lang="en-US"/>
              <a:t>Right x-axis is higher (Backtracking &amp; MLP)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8128197ff_0_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86bdc2a31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86bdc2a3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JEAN</a:t>
            </a:r>
            <a:br>
              <a:rPr lang="en-US"/>
            </a:br>
            <a:r>
              <a:rPr lang="en-US"/>
              <a:t>Right x-axis is higher (Backtracking &amp; MLP)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86bdc2a31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86bdc2a31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86bdc2a3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JEAN</a:t>
            </a:r>
            <a:br>
              <a:rPr lang="en-US"/>
            </a:br>
            <a:r>
              <a:rPr lang="en-US"/>
              <a:t>Right x-axis is higher (Backtracking &amp; MLP)</a:t>
            </a:r>
            <a:endParaRPr/>
          </a:p>
        </p:txBody>
      </p:sp>
      <p:sp>
        <p:nvSpPr>
          <p:cNvPr id="158" name="Google Shape;158;g3d86bdc2a31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76d1ce62b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76d1ce62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JEAN</a:t>
            </a:r>
            <a:endParaRPr/>
          </a:p>
        </p:txBody>
      </p:sp>
      <p:sp>
        <p:nvSpPr>
          <p:cNvPr id="165" name="Google Shape;165;g3d76d1ce62b_0_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8128197ff_0_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8128197f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Aidan</a:t>
            </a:r>
            <a:endParaRPr/>
          </a:p>
        </p:txBody>
      </p:sp>
      <p:sp>
        <p:nvSpPr>
          <p:cNvPr id="172" name="Google Shape;172;g3d8128197ff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8128197ff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8128197f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Aidan</a:t>
            </a:r>
            <a:endParaRPr/>
          </a:p>
        </p:txBody>
      </p:sp>
      <p:sp>
        <p:nvSpPr>
          <p:cNvPr id="180" name="Google Shape;180;g3d8128197ff_0_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edec500be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edec500b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edec500be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/>
        </p:nvSpPr>
        <p:spPr>
          <a:xfrm>
            <a:off x="685800" y="4038600"/>
            <a:ext cx="77724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Presenter NAME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1371600" y="4408488"/>
            <a:ext cx="6400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b="0" i="1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type="ctrTitle"/>
          </p:nvPr>
        </p:nvSpPr>
        <p:spPr>
          <a:xfrm>
            <a:off x="685800" y="12192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685800" y="268922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85800" y="18288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685800" y="1828800"/>
            <a:ext cx="3886200" cy="429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800600" y="1828800"/>
            <a:ext cx="3886200" cy="429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684212" y="1828799"/>
            <a:ext cx="3887788" cy="762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84212" y="2590799"/>
            <a:ext cx="3887788" cy="3535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3" type="body"/>
          </p:nvPr>
        </p:nvSpPr>
        <p:spPr>
          <a:xfrm>
            <a:off x="4797425" y="1828798"/>
            <a:ext cx="3889375" cy="762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4" type="body"/>
          </p:nvPr>
        </p:nvSpPr>
        <p:spPr>
          <a:xfrm>
            <a:off x="4797425" y="2590799"/>
            <a:ext cx="3889375" cy="3535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57200" y="83820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575050" y="838200"/>
            <a:ext cx="5111750" cy="528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57200" y="2000251"/>
            <a:ext cx="3008313" cy="4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792288" y="5026025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914400" y="838200"/>
            <a:ext cx="7242176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792288" y="5592763"/>
            <a:ext cx="5486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 rot="5400000">
            <a:off x="2667000" y="-1524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 rot="5400000">
            <a:off x="5204618" y="2643982"/>
            <a:ext cx="5211763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 rot="5400000">
            <a:off x="1013618" y="357981"/>
            <a:ext cx="5211763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5800" y="18288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huggingface.co/datasets/jackcai1206/killer-sudoku-puzzles/tree/mai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huggingface.co/jackcai1206" TargetMode="External"/><Relationship Id="rId4" Type="http://schemas.openxmlformats.org/officeDocument/2006/relationships/hyperlink" Target="https://huggingface.co/datasets/jackcai1206/killer-sudoku-puzzle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85800" y="4363025"/>
            <a:ext cx="77724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Presentation made by</a:t>
            </a:r>
            <a:endParaRPr sz="2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Aidan Kotsch, Carter Ptak, and Jean Luis Urena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CSCI 630</a:t>
            </a:r>
            <a:endParaRPr sz="2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85800" y="18777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85"/>
              <a:buFont typeface="Arial"/>
              <a:buNone/>
            </a:pPr>
            <a:r>
              <a:rPr b="1" lang="en-US" sz="4185"/>
              <a:t>Solving Killer Sudoku</a:t>
            </a:r>
            <a:endParaRPr b="1" sz="418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Sudoku</a:t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685800" y="1719943"/>
            <a:ext cx="7342500" cy="226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Every Column, Row, and Block needs to have all 9 numbers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1322"/>
          <a:stretch/>
        </p:blipFill>
        <p:spPr>
          <a:xfrm>
            <a:off x="2898250" y="2204350"/>
            <a:ext cx="3804700" cy="442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Killer Sudoku</a:t>
            </a:r>
            <a:endParaRPr/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685800" y="1719943"/>
            <a:ext cx="7342500" cy="226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Every Column, Row, and Block needs to have all 9 numbers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The sum of all digits in a cage must add up to the number in the top left of the cage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No repeat</a:t>
            </a:r>
            <a:r>
              <a:rPr lang="en-US"/>
              <a:t>s</a:t>
            </a:r>
            <a:r>
              <a:rPr lang="en-US"/>
              <a:t> in a single cage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4489" r="0" t="5366"/>
          <a:stretch/>
        </p:blipFill>
        <p:spPr>
          <a:xfrm>
            <a:off x="5291986" y="3361146"/>
            <a:ext cx="3116850" cy="316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Hypothesis</a:t>
            </a:r>
            <a:endParaRPr/>
          </a:p>
        </p:txBody>
      </p:sp>
      <p:sp>
        <p:nvSpPr>
          <p:cNvPr id="78" name="Google Shape;78;p16"/>
          <p:cNvSpPr txBox="1"/>
          <p:nvPr>
            <p:ph idx="2" type="body"/>
          </p:nvPr>
        </p:nvSpPr>
        <p:spPr>
          <a:xfrm>
            <a:off x="685800" y="1719943"/>
            <a:ext cx="7342500" cy="226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Forward checking will result in a speed up over brute force backtracking.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chitecture diagram" id="84" name="Google Shape;84;p17" title="2026-04-16_22-19-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0771" y="4292725"/>
            <a:ext cx="3122458" cy="22637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and Pre-processing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684212" y="1828799"/>
            <a:ext cx="3887700" cy="76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684200" y="2590800"/>
            <a:ext cx="3887700" cy="226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Killer Sudoku dataset from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HuggingFace</a:t>
            </a:r>
            <a:r>
              <a:rPr lang="en-US"/>
              <a:t>.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Columns include: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Puzzle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Human Difficulty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Backtrack calls</a:t>
            </a:r>
            <a:endParaRPr/>
          </a:p>
        </p:txBody>
      </p:sp>
      <p:sp>
        <p:nvSpPr>
          <p:cNvPr id="88" name="Google Shape;88;p17"/>
          <p:cNvSpPr txBox="1"/>
          <p:nvPr>
            <p:ph idx="3" type="body"/>
          </p:nvPr>
        </p:nvSpPr>
        <p:spPr>
          <a:xfrm>
            <a:off x="4797425" y="1828798"/>
            <a:ext cx="3889500" cy="76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Pre-Processing</a:t>
            </a:r>
            <a:endParaRPr/>
          </a:p>
        </p:txBody>
      </p:sp>
      <p:sp>
        <p:nvSpPr>
          <p:cNvPr id="89" name="Google Shape;89;p17"/>
          <p:cNvSpPr txBox="1"/>
          <p:nvPr>
            <p:ph idx="4" type="body"/>
          </p:nvPr>
        </p:nvSpPr>
        <p:spPr>
          <a:xfrm>
            <a:off x="4797425" y="2590800"/>
            <a:ext cx="3889500" cy="21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Dataset was processed into Python objects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Provided better structure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Object references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Objects retained domains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228600" y="8677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Pre-processing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Continued – Arcs &amp; Domains</a:t>
            </a:r>
            <a:endParaRPr sz="2200"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57200" y="17059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marR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500"/>
              <a:buChar char="●"/>
            </a:pPr>
            <a:r>
              <a:rPr lang="en-US" sz="2500">
                <a:solidFill>
                  <a:srgbClr val="000000"/>
                </a:solidFill>
              </a:rPr>
              <a:t>Cage</a:t>
            </a:r>
            <a:endParaRPr sz="2500">
              <a:solidFill>
                <a:srgbClr val="000000"/>
              </a:solidFill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en-US" sz="2100">
                <a:solidFill>
                  <a:srgbClr val="000000"/>
                </a:solidFill>
              </a:rPr>
              <a:t>Domains: </a:t>
            </a:r>
            <a:r>
              <a:rPr lang="en-US" sz="1700"/>
              <a:t>All possible numbers that sum up to the target sum</a:t>
            </a:r>
            <a:endParaRPr sz="2100">
              <a:solidFill>
                <a:srgbClr val="000000"/>
              </a:solidFill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en-US" sz="2100">
                <a:solidFill>
                  <a:srgbClr val="000000"/>
                </a:solidFill>
              </a:rPr>
              <a:t>Arcs: </a:t>
            </a:r>
            <a:r>
              <a:rPr lang="en-US" sz="1700"/>
              <a:t>Cells point to every other Cell in same cage</a:t>
            </a:r>
            <a:endParaRPr sz="1700">
              <a:solidFill>
                <a:srgbClr val="000000"/>
              </a:solidFill>
            </a:endParaRPr>
          </a:p>
          <a:p>
            <a:pPr indent="-3873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●"/>
            </a:pPr>
            <a:r>
              <a:rPr lang="en-US" sz="2500">
                <a:solidFill>
                  <a:srgbClr val="000000"/>
                </a:solidFill>
              </a:rPr>
              <a:t>Cell</a:t>
            </a:r>
            <a:endParaRPr sz="2500">
              <a:solidFill>
                <a:srgbClr val="000000"/>
              </a:solidFill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en-US" sz="2100">
                <a:solidFill>
                  <a:srgbClr val="000000"/>
                </a:solidFill>
              </a:rPr>
              <a:t>Domains: </a:t>
            </a:r>
            <a:r>
              <a:rPr lang="en-US" sz="1700"/>
              <a:t>Cell value 1-9</a:t>
            </a:r>
            <a:endParaRPr sz="1700">
              <a:solidFill>
                <a:srgbClr val="000000"/>
              </a:solidFill>
            </a:endParaRPr>
          </a:p>
          <a:p>
            <a:pPr indent="-3619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en-US" sz="2100">
                <a:solidFill>
                  <a:srgbClr val="000000"/>
                </a:solidFill>
              </a:rPr>
              <a:t>Arcs: </a:t>
            </a:r>
            <a:r>
              <a:rPr lang="en-US" sz="1700"/>
              <a:t>All neighboring Cells (horizontal, vertical, and within 3x3 box)</a:t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Learning </a:t>
            </a:r>
            <a:r>
              <a:rPr lang="en-US"/>
              <a:t>Strategy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685800" y="1828800"/>
            <a:ext cx="82296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Hybrid ML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Binary candidate ranker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Given a board state, predict what number is best for this cell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Confirm new setup is valid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If not, backtrack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Learning Training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685800" y="1828800"/>
            <a:ext cx="82296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Training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Reveals a sample of “correct” cells from the given solution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Creates a candidate for each possible choice for a single cell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“Correct”, if that candidate matches the hugging face solution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/>
              <a:t>Given the state of the board, and this possible candidate, is this the right digit?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A lot more “wrong” digits than correct ones, so wrong digits are worth less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2279850" y="1034275"/>
            <a:ext cx="45843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Backtracking Algorithms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684212" y="1828799"/>
            <a:ext cx="3887700" cy="76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Backtracking</a:t>
            </a:r>
            <a:endParaRPr/>
          </a:p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684212" y="2590799"/>
            <a:ext cx="3887700" cy="353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Iterate through each cell choosing next domain value for the cell.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If valid assignment progress and if not backtrack.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>
            <p:ph idx="3" type="body"/>
          </p:nvPr>
        </p:nvSpPr>
        <p:spPr>
          <a:xfrm>
            <a:off x="4797425" y="1828798"/>
            <a:ext cx="3889500" cy="76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Backtracking Modified</a:t>
            </a:r>
            <a:endParaRPr/>
          </a:p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797425" y="2590800"/>
            <a:ext cx="4221600" cy="353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Use MRV to assign values to cells with only one valid domain value then use AC3 to reduce the other cells’ domains.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Once no more such cells exist perform backtracking as normal.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4572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</a:t>
            </a:r>
            <a:endParaRPr/>
          </a:p>
        </p:txBody>
      </p:sp>
      <p:pic>
        <p:nvPicPr>
          <p:cNvPr id="126" name="Google Shape;126;p22" title="Sudoku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81200"/>
            <a:ext cx="8882024" cy="33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1367250" y="990600"/>
            <a:ext cx="67782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Backtracking</a:t>
            </a:r>
            <a:r>
              <a:rPr lang="en-US"/>
              <a:t> with Forward Checking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685800" y="1828800"/>
            <a:ext cx="8141100" cy="140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500"/>
              <a:t>Main issue:</a:t>
            </a:r>
            <a:r>
              <a:rPr lang="en-US"/>
              <a:t> </a:t>
            </a:r>
            <a:r>
              <a:rPr lang="en-US" sz="2400"/>
              <a:t>LCV has to run for each value in cell selected by MRV.</a:t>
            </a:r>
            <a:endParaRPr sz="2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9144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34" name="Google Shape;134;p23" title="sudoku2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3315550"/>
            <a:ext cx="8991600" cy="1730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24"/>
          <p:cNvGraphicFramePr/>
          <p:nvPr/>
        </p:nvGraphicFramePr>
        <p:xfrm>
          <a:off x="457188" y="77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{CA034518-7C6C-4611-BADA-17F6D5ED6A66}</a:tableStyleId>
              </a:tblPr>
              <a:tblGrid>
                <a:gridCol w="1032950"/>
                <a:gridCol w="2171850"/>
                <a:gridCol w="923200"/>
                <a:gridCol w="2231925"/>
                <a:gridCol w="1869700"/>
              </a:tblGrid>
              <a:tr h="438350">
                <a:tc grid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000"/>
                        <a:t>Algorithm Times</a:t>
                      </a:r>
                      <a:endParaRPr b="1" i="1" sz="2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6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Difficulty 2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Backtracking Time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MLP Time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Backtracking</a:t>
                      </a:r>
                      <a:r>
                        <a:rPr b="1" lang="en-US" sz="1000"/>
                        <a:t> Modified Time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Backtrack Modified </a:t>
                      </a:r>
                      <a:endParaRPr b="1"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Saved Backtracks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Average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1.10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0.19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0.19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113492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Minimum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0.01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0.01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0.11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502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Median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0.42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0.10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0.19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41865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Maximum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6.36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1.82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0.31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661375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Difficulty 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Backtracking Time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MLP Time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Backtracking Modified Time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Backtrack Modified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Saved backtracks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Average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2.67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3.84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0.33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252704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Minimum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0.02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0.05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0.10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740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Median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1.48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0.59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0.22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129781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Maximum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9.08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156.77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1.87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900038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Difficulty 4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Backtracking Time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MLP Time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Backtracking Modified Time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Backtrack Modified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Saved backtracks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Average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3.67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33.07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0.83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252704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Minimum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0.04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0.32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0.08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2088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Median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3.16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10.83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0.49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236663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Maximum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9.21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170.48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6100"/>
                          </a:solidFill>
                        </a:rPr>
                        <a:t>3.81</a:t>
                      </a:r>
                      <a:endParaRPr b="1" sz="1000">
                        <a:solidFill>
                          <a:srgbClr val="006100"/>
                        </a:solidFill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846540</a:t>
                      </a:r>
                      <a:endParaRPr sz="10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Backtracks Time (Difficulty 2)</a:t>
            </a:r>
            <a:endParaRPr/>
          </a:p>
        </p:txBody>
      </p:sp>
      <p:pic>
        <p:nvPicPr>
          <p:cNvPr id="147" name="Google Shape;147;p25" title="difficulty2_scatterplo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463" y="1584450"/>
            <a:ext cx="7506263" cy="472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Backtracks Time (Difficulty 3)</a:t>
            </a:r>
            <a:endParaRPr/>
          </a:p>
        </p:txBody>
      </p:sp>
      <p:pic>
        <p:nvPicPr>
          <p:cNvPr id="154" name="Google Shape;154;p26" title="difficulty3_scatterplo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463" y="1607125"/>
            <a:ext cx="7506263" cy="472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Backtracks Time (Difficulty 4)</a:t>
            </a:r>
            <a:endParaRPr/>
          </a:p>
        </p:txBody>
      </p:sp>
      <p:pic>
        <p:nvPicPr>
          <p:cNvPr id="161" name="Google Shape;161;p27" title="difficulty4_scatterplo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463" y="1652475"/>
            <a:ext cx="7506263" cy="472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685800" y="1828800"/>
            <a:ext cx="82296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56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LCV adds too much complexity to a problem that can be solved quickly with only backtracking. </a:t>
            </a:r>
            <a:endParaRPr sz="24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400"/>
              <a:t>Finding a middle ground between using heuristics and not. </a:t>
            </a:r>
            <a:endParaRPr sz="24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400"/>
              <a:t>MRV and AC3 were useful for limiting the number of values in each domain that backtracking had to iterate through. 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400"/>
              <a:t>ML Heuristic based backtracking performed poorly due to complexity of ML.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More Complicated Sudoku Problems</a:t>
            </a:r>
            <a:endParaRPr/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525375"/>
            <a:ext cx="4391500" cy="283489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9"/>
          <p:cNvSpPr txBox="1"/>
          <p:nvPr/>
        </p:nvSpPr>
        <p:spPr>
          <a:xfrm>
            <a:off x="685800" y="2066625"/>
            <a:ext cx="3815400" cy="3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Additional rules means less given information. 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Forward</a:t>
            </a:r>
            <a:r>
              <a:rPr lang="en-US" sz="2800">
                <a:solidFill>
                  <a:schemeClr val="dk1"/>
                </a:solidFill>
              </a:rPr>
              <a:t> checking could prove more reasonable than typical backtracking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137" y="896725"/>
            <a:ext cx="5744924" cy="552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685800" y="990600"/>
            <a:ext cx="8229600" cy="8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Acknowledgements and References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685800" y="1828800"/>
            <a:ext cx="8229600" cy="426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SzPts val="2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Jack Cai</a:t>
            </a:r>
            <a:r>
              <a:rPr lang="en-US"/>
              <a:t> for the Killer Sudoku dataset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https://huggingface.co/datasets/jackcai1206/killer-sudoku-puzzles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304800" y="3200400"/>
            <a:ext cx="861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Questions?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bConferencingWorkshop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C0504D"/>
      </a:accent1>
      <a:accent2>
        <a:srgbClr val="D99694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